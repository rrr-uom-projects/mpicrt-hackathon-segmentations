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6" r:id="rId2"/>
    <p:sldId id="276" r:id="rId3"/>
    <p:sldId id="278" r:id="rId4"/>
    <p:sldId id="279" r:id="rId5"/>
    <p:sldId id="285" r:id="rId6"/>
    <p:sldId id="281" r:id="rId7"/>
    <p:sldId id="270" r:id="rId8"/>
    <p:sldId id="282" r:id="rId9"/>
    <p:sldId id="283" r:id="rId10"/>
    <p:sldId id="284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D5ECE3C-A640-AC82-B551-A2651648E430}" name="Rory Bell" initials="RB" userId="S::rory.bell-2@postgrad.manchester.ac.uk::a5f16c5f-1708-49b0-af51-5ac85f7fd71f" providerId="AD"/>
  <p188:author id="{C33B7750-1C27-F1B1-5411-BD8068F1B6B6}" name="Artemis Bouzaki" initials="AB" userId="S::artemis.bouzaki@postgrad.manchester.ac.uk::9c403ff6-74c0-44bb-a0b1-c793144e9dc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6EC168-BC5F-DA4F-BF7F-1B8B111BE7B1}" v="1885" dt="2026-10-14T14:03:07.2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10"/>
    <p:restoredTop sz="94684"/>
  </p:normalViewPr>
  <p:slideViewPr>
    <p:cSldViewPr snapToGrid="0">
      <p:cViewPr varScale="1">
        <p:scale>
          <a:sx n="93" d="100"/>
          <a:sy n="93" d="100"/>
        </p:scale>
        <p:origin x="216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54091D-FF35-EE46-95F5-DE976343204A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77680-8114-1F47-8331-A208640DC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162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E3B6B-76D3-08F4-1C0F-005F1935B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13CB5D-B639-09EF-A06C-E1588C3F5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A219F-EC34-9AD6-C0EE-A826261C6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0BA34-7BE7-4DD2-AF1E-CE7E4E096BB8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78BDF-B3AA-06BD-E153-925AB1154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3B866-7786-6CD2-334D-75DA60549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B1C75-1795-4932-95E0-E50F3339B4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212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D78F0-38CF-3A93-1681-6BACCCC3A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B7E2D-3F29-5A3D-EE6C-AAEE716BA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52BB6-0E66-4A6F-5E4B-B4DE2D779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0BA34-7BE7-4DD2-AF1E-CE7E4E096BB8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CC283-FF90-E7DA-5731-3EA131776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F7D04-1809-3A08-3068-AB47049D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B1C75-1795-4932-95E0-E50F3339B4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6223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EA11-360B-CFD6-1E98-9BEFFC0E3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1991B-0184-7D10-A530-E30D40122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24972-3E8C-60DA-368C-1487EEBCD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0BA34-7BE7-4DD2-AF1E-CE7E4E096BB8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66FF4-5D33-C6F6-7E57-5BB8A9586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9E369-4C8B-CAAC-F27A-AF0372CC5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B1C75-1795-4932-95E0-E50F3339B4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8757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5C54B-8D55-2C15-47B0-52AC70AF3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B45F4-C9FD-BB44-44BF-CA97791C2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79AEF-6460-BB5E-F795-A4C87749B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5057A-297D-8C90-7F46-D03E1DB5E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0BA34-7BE7-4DD2-AF1E-CE7E4E096BB8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18F66-39BD-B9A3-AA60-F76485EF6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F610A-C4D2-DC10-211A-12698F142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B1C75-1795-4932-95E0-E50F3339B4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048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57953-52F5-B346-A734-D72CD3C93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D4E67-F773-C1B8-231C-DFD3E7007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B9697D-FF08-0E59-0079-341D39216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54964F-8C1D-2185-0431-7CAB8C00FC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951AE2-7F0F-E6AF-A1D0-59289879F4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F9B6F9-32E0-4BE8-43D7-D122B91B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0BA34-7BE7-4DD2-AF1E-CE7E4E096BB8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F24ABF-B3A8-756A-5E47-E21769BB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4FDD3A-5171-3B63-06BB-C4E06B45B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B1C75-1795-4932-95E0-E50F3339B4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3990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6A8FD-01DA-52AB-EDAE-11939D682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82D020-EC13-C5B3-2725-396EA9366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0BA34-7BE7-4DD2-AF1E-CE7E4E096BB8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1530B-E2B7-2CAA-E9CB-DE30999AF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3C955F-310A-95D6-CDDD-EFCDB5CF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B1C75-1795-4932-95E0-E50F3339B4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691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BC59A7-A640-D5AA-ED4F-95365DA3E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0BA34-7BE7-4DD2-AF1E-CE7E4E096BB8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C73CDB-6C76-4943-8F4B-7B0917074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188C3-4B02-F980-C26D-ACF209B20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B1C75-1795-4932-95E0-E50F3339B4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9827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DD5DB-44AB-3C49-4AC2-E9F07A39D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B685F-DDAD-12B7-6CB5-924580508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C30B66-FB97-3FDD-B393-CC628DCBF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7E77FC-0C2D-2327-1907-E06F2FC5E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0BA34-7BE7-4DD2-AF1E-CE7E4E096BB8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A2A63-AEFC-C92B-23FF-D6FCF685B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23D381-529F-6A2F-5F36-DEB0FF844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B1C75-1795-4932-95E0-E50F3339B4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191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887E6-B6C6-4FA7-D082-F5629C1F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DDE769-A9E9-4853-8B1E-7269BEC1F0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1A068-15A3-25A7-1676-38CAFB5E6E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3988D-CF9B-6315-4377-DE013BD60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0BA34-7BE7-4DD2-AF1E-CE7E4E096BB8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59BF4-5665-DEBB-5EC8-1254E0DA1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E7565-89B4-6EA1-3612-562D2DFC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B1C75-1795-4932-95E0-E50F3339B4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017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E9E92-7AF0-4422-3DF8-2A21C8B27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C38C2-DE63-CEB0-F64F-B9E84D4AB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7C397-328E-29F4-CF55-06A4D8C1F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0BA34-7BE7-4DD2-AF1E-CE7E4E096BB8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5C56D-7C19-4122-7DC2-21B6C8B14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BF81D-8B12-8E59-50E4-91F16B934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B1C75-1795-4932-95E0-E50F3339B4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836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97510B-B479-C079-8791-FED6DC0FD1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7E2E8-23D9-6C79-A75C-D3BBF7B23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6536B-7E6E-1ED6-B8B9-1E06601E4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0BA34-7BE7-4DD2-AF1E-CE7E4E096BB8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07AD0-7D0A-29C0-8E00-D4F809C0C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B94FC-E67D-D50A-9EC3-73063154E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B1C75-1795-4932-95E0-E50F3339B4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066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417290"/>
            <a:ext cx="10566400" cy="4627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879612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10E05B-9C67-01D6-AB6F-A0625FA91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05275-D750-39EF-7105-4E239CCF1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9C128-C8AE-55D9-A0FC-EBFDA22C5E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20BA34-7BE7-4DD2-AF1E-CE7E4E096BB8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A7214-71E6-3DA4-ADF0-267BF7BE2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1EA0E-30DA-54C4-363B-BE87C8852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CB1C75-1795-4932-95E0-E50F3339B4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8845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85801" y="1436254"/>
            <a:ext cx="11020395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Liver Lesion Segmentation Challenge</a:t>
            </a:r>
            <a:endParaRPr lang="en-US" sz="4800" b="1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097BCEA-8F51-03CE-E450-F464DDF54FB5}"/>
              </a:ext>
            </a:extLst>
          </p:cNvPr>
          <p:cNvSpPr/>
          <p:nvPr/>
        </p:nvSpPr>
        <p:spPr>
          <a:xfrm>
            <a:off x="260893" y="2591734"/>
            <a:ext cx="11670209" cy="421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120"/>
              </a:lnSpc>
              <a:buNone/>
            </a:pPr>
            <a:r>
              <a:rPr lang="en-US" sz="2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program that outlines lesions in abdominal coronal scans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3816" y="6126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segmentation?</a:t>
            </a:r>
            <a:endParaRPr lang="en-US" sz="3600" b="1"/>
          </a:p>
        </p:txBody>
      </p:sp>
      <p:sp>
        <p:nvSpPr>
          <p:cNvPr id="3" name="TextBox 2"/>
          <p:cNvSpPr txBox="1"/>
          <p:nvPr/>
        </p:nvSpPr>
        <p:spPr>
          <a:xfrm>
            <a:off x="813816" y="1371600"/>
            <a:ext cx="5120640" cy="4518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Segmentation outlines a structure in an image, pixel by pixel.</a:t>
            </a:r>
            <a:endParaRPr lang="en-GB" sz="2000" b="0" i="0" dirty="0">
              <a:solidFill>
                <a:srgbClr val="000000"/>
              </a:solidFill>
              <a:latin typeface="Arial"/>
            </a:endParaRPr>
          </a:p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endParaRPr sz="2000" b="0" i="0" dirty="0">
              <a:solidFill>
                <a:srgbClr val="000000"/>
              </a:solidFill>
              <a:latin typeface="Arial"/>
            </a:endParaRPr>
          </a:p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r>
              <a:rPr sz="2000" b="1" i="0" dirty="0">
                <a:solidFill>
                  <a:srgbClr val="000000"/>
                </a:solidFill>
                <a:latin typeface="Arial"/>
              </a:rPr>
              <a:t>Input: 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a CT scan, which is a grid of numbers, one per pixel.</a:t>
            </a:r>
            <a:endParaRPr lang="en-GB" sz="2000" b="0" i="0" dirty="0">
              <a:solidFill>
                <a:srgbClr val="000000"/>
              </a:solidFill>
              <a:latin typeface="Arial"/>
            </a:endParaRPr>
          </a:p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endParaRPr sz="2000" b="0" i="0" dirty="0">
              <a:solidFill>
                <a:srgbClr val="000000"/>
              </a:solidFill>
              <a:latin typeface="Arial"/>
            </a:endParaRPr>
          </a:p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r>
              <a:rPr sz="2000" b="1" i="0" dirty="0">
                <a:solidFill>
                  <a:srgbClr val="000000"/>
                </a:solidFill>
                <a:latin typeface="Arial"/>
              </a:rPr>
              <a:t>Output: </a:t>
            </a:r>
            <a:r>
              <a:rPr sz="2000" b="0" i="0" dirty="0">
                <a:solidFill>
                  <a:srgbClr val="000000"/>
                </a:solidFill>
                <a:latin typeface="Arial"/>
              </a:rPr>
              <a:t>a mask, a grid of 0s and 1s of the same size. 1 = lesion, 0 = everything else.</a:t>
            </a:r>
            <a:endParaRPr lang="en-GB" sz="2000" b="0" i="0" dirty="0">
              <a:solidFill>
                <a:srgbClr val="000000"/>
              </a:solidFill>
              <a:latin typeface="Arial"/>
            </a:endParaRPr>
          </a:p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endParaRPr sz="2000" b="0" i="0" dirty="0">
              <a:solidFill>
                <a:srgbClr val="000000"/>
              </a:solidFill>
              <a:latin typeface="Arial"/>
            </a:endParaRPr>
          </a:p>
          <a:p>
            <a:pPr marL="274320" indent="-274320" algn="l">
              <a:spcAft>
                <a:spcPts val="600"/>
              </a:spcAft>
              <a:buFont typeface="Arial"/>
              <a:buChar char="•"/>
            </a:pPr>
            <a:r>
              <a:rPr sz="2000" b="0" i="0" dirty="0">
                <a:solidFill>
                  <a:srgbClr val="000000"/>
                </a:solidFill>
                <a:latin typeface="Arial"/>
              </a:rPr>
              <a:t>Clinicians use masks to measure lesions and organs at risk.</a:t>
            </a:r>
          </a:p>
        </p:txBody>
      </p:sp>
      <p:pic>
        <p:nvPicPr>
          <p:cNvPr id="4" name="CT with lesion outline" descr="ct_84_le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71600"/>
            <a:ext cx="2651760" cy="2651760"/>
          </a:xfrm>
          <a:prstGeom prst="rect">
            <a:avLst/>
          </a:prstGeom>
        </p:spPr>
      </p:pic>
      <p:pic>
        <p:nvPicPr>
          <p:cNvPr id="5" name="Lesion mask" descr="lesion_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1371600"/>
            <a:ext cx="265176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72200" y="4114800"/>
            <a:ext cx="265176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00" b="0" i="0">
                <a:solidFill>
                  <a:srgbClr val="404040"/>
                </a:solidFill>
                <a:latin typeface="Arial"/>
              </a:rPr>
              <a:t>A CT scan, with the lesion outlined in 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4114800"/>
            <a:ext cx="2651760" cy="53245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00" b="0" i="0" dirty="0">
                <a:solidFill>
                  <a:srgbClr val="404040"/>
                </a:solidFill>
                <a:latin typeface="Arial"/>
              </a:rPr>
              <a:t>The same lesion as a mask </a:t>
            </a:r>
            <a:endParaRPr lang="en-GB" sz="1300" b="0" i="0" dirty="0">
              <a:solidFill>
                <a:srgbClr val="404040"/>
              </a:solidFill>
              <a:latin typeface="Arial"/>
            </a:endParaRPr>
          </a:p>
          <a:p>
            <a:pPr marL="0" indent="0" algn="l">
              <a:spcAft>
                <a:spcPts val="600"/>
              </a:spcAft>
              <a:buNone/>
            </a:pPr>
            <a:r>
              <a:rPr sz="1300" b="0" i="0" dirty="0">
                <a:solidFill>
                  <a:srgbClr val="404040"/>
                </a:solidFill>
                <a:latin typeface="Arial"/>
              </a:rPr>
              <a:t>(white = lesion)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16" y="612648"/>
            <a:ext cx="10881360" cy="566928"/>
          </a:xfrm>
        </p:spPr>
        <p:txBody>
          <a:bodyPr wrap="square">
            <a:no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Arial"/>
              </a:rPr>
              <a:t>Our images: coronal CT slices of the abdomen</a:t>
            </a:r>
          </a:p>
        </p:txBody>
      </p:sp>
      <p:pic>
        <p:nvPicPr>
          <p:cNvPr id="3" name="Annotated CT" descr="ct_84_ann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325880"/>
            <a:ext cx="489204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54496" y="1704252"/>
            <a:ext cx="5257800" cy="37487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74320" indent="-274320" algn="l">
              <a:spcAft>
                <a:spcPts val="1200"/>
              </a:spcAft>
              <a:buFont typeface="Arial"/>
              <a:buChar char="•"/>
            </a:pPr>
            <a:r>
              <a:rPr sz="1800" b="1" i="0" dirty="0">
                <a:solidFill>
                  <a:srgbClr val="000000"/>
                </a:solidFill>
                <a:latin typeface="Arial"/>
              </a:rPr>
              <a:t>Coronal: 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a front view of the body, as if facing the patient.</a:t>
            </a:r>
          </a:p>
          <a:p>
            <a:pPr marL="274320" indent="-274320" algn="l">
              <a:spcAft>
                <a:spcPts val="1200"/>
              </a:spcAft>
              <a:buFont typeface="Arial"/>
              <a:buChar char="•"/>
            </a:pPr>
            <a:endParaRPr lang="en-GB" sz="1800" b="1" i="0" dirty="0">
              <a:solidFill>
                <a:srgbClr val="000000"/>
              </a:solidFill>
              <a:latin typeface="Arial"/>
            </a:endParaRPr>
          </a:p>
          <a:p>
            <a:pPr marL="274320" indent="-274320" algn="l">
              <a:spcAft>
                <a:spcPts val="1200"/>
              </a:spcAft>
              <a:buFont typeface="Arial"/>
              <a:buChar char="•"/>
            </a:pPr>
            <a:r>
              <a:rPr sz="1800" b="1" i="0" dirty="0">
                <a:solidFill>
                  <a:srgbClr val="000000"/>
                </a:solidFill>
                <a:latin typeface="Arial"/>
              </a:rPr>
              <a:t>Size: 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256 × 256 pixels, each 1.5 × 1.5 mm </a:t>
            </a:r>
            <a:endParaRPr lang="en-GB" sz="1800" b="0" i="0" dirty="0">
              <a:solidFill>
                <a:srgbClr val="000000"/>
              </a:solidFill>
              <a:latin typeface="Arial"/>
            </a:endParaRPr>
          </a:p>
          <a:p>
            <a:pPr marL="274320" indent="-274320" algn="l">
              <a:spcAft>
                <a:spcPts val="1200"/>
              </a:spcAft>
              <a:buFont typeface="Arial"/>
              <a:buChar char="•"/>
            </a:pPr>
            <a:endParaRPr lang="en-GB" sz="1800" b="0" i="0" dirty="0">
              <a:solidFill>
                <a:srgbClr val="000000"/>
              </a:solidFill>
              <a:latin typeface="Arial"/>
            </a:endParaRPr>
          </a:p>
          <a:p>
            <a:pPr marL="274320" indent="-274320" algn="l">
              <a:spcAft>
                <a:spcPts val="1200"/>
              </a:spcAft>
              <a:buFont typeface="Arial"/>
              <a:buChar char="•"/>
            </a:pPr>
            <a:r>
              <a:rPr sz="1800" b="1" i="0" dirty="0">
                <a:solidFill>
                  <a:srgbClr val="000000"/>
                </a:solidFill>
                <a:latin typeface="Arial"/>
              </a:rPr>
              <a:t>Real scans 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from the public </a:t>
            </a:r>
            <a:r>
              <a:rPr sz="1800" b="0" i="0" dirty="0" err="1">
                <a:solidFill>
                  <a:srgbClr val="000000"/>
                </a:solidFill>
                <a:latin typeface="Arial"/>
              </a:rPr>
              <a:t>TotalSegmentator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 CT dataset.</a:t>
            </a:r>
            <a:endParaRPr lang="en-GB" sz="1800" b="0" i="0" dirty="0">
              <a:solidFill>
                <a:srgbClr val="000000"/>
              </a:solidFill>
              <a:latin typeface="Arial"/>
            </a:endParaRPr>
          </a:p>
          <a:p>
            <a:pPr marL="274320" indent="-274320" algn="l">
              <a:spcAft>
                <a:spcPts val="1200"/>
              </a:spcAft>
              <a:buFont typeface="Arial"/>
              <a:buChar char="•"/>
            </a:pPr>
            <a:endParaRPr sz="1800" b="0" i="0" dirty="0">
              <a:solidFill>
                <a:srgbClr val="000000"/>
              </a:solidFill>
              <a:latin typeface="Arial"/>
            </a:endParaRPr>
          </a:p>
          <a:p>
            <a:pPr marL="274320" indent="-274320" algn="l">
              <a:spcAft>
                <a:spcPts val="600"/>
              </a:spcAft>
              <a:buFont typeface="Arial"/>
              <a:buChar char="•"/>
            </a:pPr>
            <a:r>
              <a:rPr sz="1800" b="1" i="0" dirty="0">
                <a:solidFill>
                  <a:srgbClr val="000000"/>
                </a:solidFill>
                <a:latin typeface="Arial"/>
              </a:rPr>
              <a:t>Exactly one </a:t>
            </a:r>
            <a:r>
              <a:rPr lang="en-GB" sz="1800" b="1" i="0" dirty="0">
                <a:solidFill>
                  <a:srgbClr val="000000"/>
                </a:solidFill>
                <a:latin typeface="Arial"/>
              </a:rPr>
              <a:t>(synthetic) </a:t>
            </a:r>
            <a:r>
              <a:rPr sz="1800" b="1" i="0" dirty="0">
                <a:solidFill>
                  <a:srgbClr val="000000"/>
                </a:solidFill>
                <a:latin typeface="Arial"/>
              </a:rPr>
              <a:t>lesion 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per image, always inside the liver.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16" y="612648"/>
            <a:ext cx="10881360" cy="566928"/>
          </a:xfrm>
        </p:spPr>
        <p:txBody>
          <a:bodyPr wrap="square">
            <a:no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Arial"/>
              </a:rPr>
              <a:t>No two images look the same</a:t>
            </a:r>
          </a:p>
        </p:txBody>
      </p:sp>
      <p:pic>
        <p:nvPicPr>
          <p:cNvPr id="3" name="dev_84" descr="ct_84_out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325880"/>
            <a:ext cx="329184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" y="4663440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400" b="1" i="0">
                <a:solidFill>
                  <a:srgbClr val="000000"/>
                </a:solidFill>
                <a:latin typeface="Courier New"/>
              </a:rPr>
              <a:t>dev_84</a:t>
            </a:r>
          </a:p>
        </p:txBody>
      </p:sp>
      <p:pic>
        <p:nvPicPr>
          <p:cNvPr id="5" name="dev_83" descr="ct_83_out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1325880"/>
            <a:ext cx="329184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25696" y="4663440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400" b="1" i="0">
                <a:solidFill>
                  <a:srgbClr val="000000"/>
                </a:solidFill>
                <a:latin typeface="Courier New"/>
              </a:rPr>
              <a:t>dev_83</a:t>
            </a:r>
          </a:p>
        </p:txBody>
      </p:sp>
      <p:pic>
        <p:nvPicPr>
          <p:cNvPr id="7" name="dev_82" descr="ct_82_outlin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576" y="1325880"/>
            <a:ext cx="329184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37576" y="4663440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400" b="1" i="0">
                <a:solidFill>
                  <a:srgbClr val="000000"/>
                </a:solidFill>
                <a:latin typeface="Courier New"/>
              </a:rPr>
              <a:t>dev_82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12080"/>
            <a:ext cx="10515600" cy="6093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1" i="0" dirty="0">
                <a:solidFill>
                  <a:srgbClr val="B88600"/>
                </a:solidFill>
                <a:latin typeface="Arial"/>
              </a:rPr>
              <a:t>Yellow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 = liver,  </a:t>
            </a:r>
            <a:r>
              <a:rPr sz="1800" b="1" i="0" dirty="0">
                <a:solidFill>
                  <a:srgbClr val="D92D20"/>
                </a:solidFill>
                <a:latin typeface="Arial"/>
              </a:rPr>
              <a:t>red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 = lesion.  How the patient lies, the size and shape of the liver, where the lesion is and how bright the scan is all change from image to image. </a:t>
            </a:r>
            <a:r>
              <a:rPr sz="1800" b="1" i="0" dirty="0">
                <a:solidFill>
                  <a:srgbClr val="000000"/>
                </a:solidFill>
                <a:latin typeface="Arial"/>
              </a:rPr>
              <a:t>Your method has to work on all of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816" y="612648"/>
            <a:ext cx="10881360" cy="566928"/>
          </a:xfrm>
        </p:spPr>
        <p:txBody>
          <a:bodyPr wrap="square">
            <a:no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  <a:latin typeface="Arial"/>
              </a:rPr>
              <a:t>Your task: automatically segment the lesion!</a:t>
            </a:r>
          </a:p>
        </p:txBody>
      </p:sp>
      <p:pic>
        <p:nvPicPr>
          <p:cNvPr id="3" name="CT image" descr="ct_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78308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5216" y="4709160"/>
            <a:ext cx="3200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Arial"/>
              </a:rPr>
              <a:t>CT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5074920"/>
            <a:ext cx="320040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400" b="0" i="0">
                <a:solidFill>
                  <a:srgbClr val="404040"/>
                </a:solidFill>
                <a:latin typeface="Arial"/>
              </a:rPr>
              <a:t>The input your code looks at</a:t>
            </a:r>
          </a:p>
        </p:txBody>
      </p:sp>
      <p:pic>
        <p:nvPicPr>
          <p:cNvPr id="6" name="(optionally) Liver mask" descr="liver_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215" y="1783080"/>
            <a:ext cx="27432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85615" y="4709160"/>
            <a:ext cx="3200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Arial"/>
              </a:rPr>
              <a:t>(optionally) Liver mask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5615" y="5074920"/>
            <a:ext cx="320040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400" b="0" i="0">
                <a:solidFill>
                  <a:srgbClr val="404040"/>
                </a:solidFill>
                <a:latin typeface="Arial"/>
              </a:rPr>
              <a:t>1 = liver, 0 = elsewhere</a:t>
            </a:r>
          </a:p>
        </p:txBody>
      </p:sp>
      <p:pic>
        <p:nvPicPr>
          <p:cNvPr id="9" name="Lesion mask" descr="lesion_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216" y="1783080"/>
            <a:ext cx="274320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57616" y="4709160"/>
            <a:ext cx="3200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800" b="1" i="0">
                <a:solidFill>
                  <a:srgbClr val="B4510D"/>
                </a:solidFill>
                <a:latin typeface="Arial"/>
              </a:rPr>
              <a:t>Lesion mask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7616" y="5074920"/>
            <a:ext cx="320040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400" b="0" i="0">
                <a:solidFill>
                  <a:srgbClr val="404040"/>
                </a:solidFill>
                <a:latin typeface="Arial"/>
              </a:rPr>
              <a:t>The answer: what your code must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016" y="2788920"/>
            <a:ext cx="4572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3600" b="1" i="0">
                <a:solidFill>
                  <a:srgbClr val="000000"/>
                </a:solidFill>
                <a:latin typeface="Arial"/>
              </a:rPr>
              <a:t>+</a:t>
            </a:r>
          </a:p>
        </p:txBody>
      </p:sp>
      <p:sp>
        <p:nvSpPr>
          <p:cNvPr id="13" name="Your task box"/>
          <p:cNvSpPr/>
          <p:nvPr/>
        </p:nvSpPr>
        <p:spPr>
          <a:xfrm>
            <a:off x="6922008" y="1691640"/>
            <a:ext cx="1517904" cy="2926080"/>
          </a:xfrm>
          <a:prstGeom prst="roundRect">
            <a:avLst>
              <a:gd name="adj" fmla="val 6000"/>
            </a:avLst>
          </a:prstGeom>
          <a:solidFill>
            <a:srgbClr val="FBEADF"/>
          </a:solidFill>
          <a:ln w="28575">
            <a:solidFill>
              <a:srgbClr val="B4510D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Your task tag"/>
          <p:cNvSpPr/>
          <p:nvPr/>
        </p:nvSpPr>
        <p:spPr>
          <a:xfrm>
            <a:off x="7086600" y="152704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B45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YOUR TASK</a:t>
            </a:r>
          </a:p>
        </p:txBody>
      </p:sp>
      <p:sp>
        <p:nvSpPr>
          <p:cNvPr id="15" name="Arrow to answer"/>
          <p:cNvSpPr/>
          <p:nvPr/>
        </p:nvSpPr>
        <p:spPr>
          <a:xfrm>
            <a:off x="7086600" y="2788920"/>
            <a:ext cx="1188720" cy="548640"/>
          </a:xfrm>
          <a:prstGeom prst="rightArrow">
            <a:avLst/>
          </a:prstGeom>
          <a:solidFill>
            <a:srgbClr val="B45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22008" y="3429000"/>
            <a:ext cx="1517904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500" b="1" i="0">
                <a:solidFill>
                  <a:srgbClr val="000000"/>
                </a:solidFill>
                <a:latin typeface="Courier New"/>
              </a:rPr>
              <a:t>segment()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3840480"/>
            <a:ext cx="1517904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300" b="0" i="0">
                <a:solidFill>
                  <a:srgbClr val="B4510D"/>
                </a:solidFill>
                <a:latin typeface="Arial"/>
              </a:rPr>
              <a:t>the code you write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3816" y="6126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datasets: practise, then get scored</a:t>
            </a:r>
            <a:endParaRPr lang="en-US" sz="3600" b="1" dirty="0"/>
          </a:p>
        </p:txBody>
      </p:sp>
      <p:sp>
        <p:nvSpPr>
          <p:cNvPr id="3" name="Development set card"/>
          <p:cNvSpPr/>
          <p:nvPr/>
        </p:nvSpPr>
        <p:spPr>
          <a:xfrm>
            <a:off x="813816" y="1371600"/>
            <a:ext cx="5120640" cy="4160520"/>
          </a:xfrm>
          <a:prstGeom prst="roundRect">
            <a:avLst>
              <a:gd name="adj" fmla="val 6000"/>
            </a:avLst>
          </a:prstGeom>
          <a:solidFill>
            <a:srgbClr val="E4E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" y="1508760"/>
            <a:ext cx="45720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600" b="1" i="0">
                <a:solidFill>
                  <a:srgbClr val="2F5597"/>
                </a:solidFill>
                <a:latin typeface="Arial"/>
              </a:rPr>
              <a:t>Development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" y="2011680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0" i="0">
                <a:solidFill>
                  <a:srgbClr val="404040"/>
                </a:solidFill>
                <a:latin typeface="Arial"/>
              </a:rPr>
              <a:t>84 patients</a:t>
            </a:r>
          </a:p>
        </p:txBody>
      </p:sp>
      <p:pic>
        <p:nvPicPr>
          <p:cNvPr id="6" name="Development set example" descr="ct_84_le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2514600"/>
            <a:ext cx="1920240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91256" y="2560320"/>
            <a:ext cx="265176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1000"/>
              </a:spcAft>
              <a:buNone/>
            </a:pPr>
            <a:r>
              <a:rPr sz="1600" b="1" i="0">
                <a:solidFill>
                  <a:srgbClr val="2F5597"/>
                </a:solidFill>
                <a:latin typeface="Arial"/>
              </a:rPr>
              <a:t>✓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 CT image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sz="1600" b="1" i="0">
                <a:solidFill>
                  <a:srgbClr val="2F5597"/>
                </a:solidFill>
                <a:latin typeface="Arial"/>
              </a:rPr>
              <a:t>✓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 Liver mask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sz="1600" b="1" i="0">
                <a:solidFill>
                  <a:srgbClr val="2F5597"/>
                </a:solidFill>
                <a:latin typeface="Arial"/>
              </a:rPr>
              <a:t>✓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 Lesion mask (the answer)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4572000"/>
            <a:ext cx="4572000" cy="54784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 dirty="0">
                <a:solidFill>
                  <a:srgbClr val="000000"/>
                </a:solidFill>
                <a:latin typeface="Arial"/>
              </a:rPr>
              <a:t>Use it to: </a:t>
            </a:r>
            <a:r>
              <a:rPr sz="1600" b="0" i="0" dirty="0">
                <a:solidFill>
                  <a:srgbClr val="000000"/>
                </a:solidFill>
                <a:latin typeface="Arial"/>
              </a:rPr>
              <a:t>Build your method and check your score as often as you like.</a:t>
            </a:r>
          </a:p>
        </p:txBody>
      </p:sp>
      <p:sp>
        <p:nvSpPr>
          <p:cNvPr id="9" name="Test set card"/>
          <p:cNvSpPr/>
          <p:nvPr/>
        </p:nvSpPr>
        <p:spPr>
          <a:xfrm>
            <a:off x="6254496" y="1371600"/>
            <a:ext cx="5120640" cy="4160520"/>
          </a:xfrm>
          <a:prstGeom prst="roundRect">
            <a:avLst>
              <a:gd name="adj" fmla="val 6000"/>
            </a:avLst>
          </a:prstGeom>
          <a:solidFill>
            <a:srgbClr val="FB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28816" y="1508760"/>
            <a:ext cx="45720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600" b="1" i="0">
                <a:solidFill>
                  <a:srgbClr val="B4510D"/>
                </a:solidFill>
                <a:latin typeface="Arial"/>
              </a:rPr>
              <a:t>Test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8816" y="2011680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0" i="0">
                <a:solidFill>
                  <a:srgbClr val="404040"/>
                </a:solidFill>
                <a:latin typeface="Arial"/>
              </a:rPr>
              <a:t>10 patients</a:t>
            </a:r>
          </a:p>
        </p:txBody>
      </p:sp>
      <p:pic>
        <p:nvPicPr>
          <p:cNvPr id="12" name="Test set example" descr="test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2514600"/>
            <a:ext cx="1920240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31936" y="2560320"/>
            <a:ext cx="265176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1000"/>
              </a:spcAft>
              <a:buNone/>
            </a:pPr>
            <a:r>
              <a:rPr sz="1600" b="1" i="0">
                <a:solidFill>
                  <a:srgbClr val="B4510D"/>
                </a:solidFill>
                <a:latin typeface="Arial"/>
              </a:rPr>
              <a:t>✓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 CT image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sz="1600" b="1" i="0">
                <a:solidFill>
                  <a:srgbClr val="B4510D"/>
                </a:solidFill>
                <a:latin typeface="Arial"/>
              </a:rPr>
              <a:t>✓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 Liver mask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sz="1600" b="1" i="0">
                <a:solidFill>
                  <a:srgbClr val="C01F1F"/>
                </a:solidFill>
                <a:latin typeface="Arial"/>
              </a:rPr>
              <a:t>✗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 Lesion mask: hidden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4572000"/>
            <a:ext cx="4572000" cy="868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600" b="1" i="0">
                <a:solidFill>
                  <a:srgbClr val="000000"/>
                </a:solidFill>
                <a:latin typeface="Arial"/>
              </a:rPr>
              <a:t>Use it to: </a:t>
            </a:r>
            <a:r>
              <a:rPr sz="1600" b="0" i="0">
                <a:solidFill>
                  <a:srgbClr val="000000"/>
                </a:solidFill>
                <a:latin typeface="Arial"/>
              </a:rPr>
              <a:t>Run your finished method once. We score these masks: this is your result.</a:t>
            </a:r>
          </a:p>
        </p:txBody>
      </p:sp>
      <p:sp>
        <p:nvSpPr>
          <p:cNvPr id="15" name="Hidden answer mark"/>
          <p:cNvSpPr txBox="1"/>
          <p:nvPr/>
        </p:nvSpPr>
        <p:spPr>
          <a:xfrm>
            <a:off x="7031736" y="3017520"/>
            <a:ext cx="91440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5400" b="1" i="0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5715000"/>
            <a:ext cx="1060704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1" i="0" dirty="0">
                <a:solidFill>
                  <a:srgbClr val="000000"/>
                </a:solidFill>
                <a:latin typeface="Arial"/>
              </a:rPr>
              <a:t>Only the test set counts towards your 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6096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are scored: Dice score</a:t>
            </a:r>
            <a:endParaRPr lang="en-US" sz="3600" b="1"/>
          </a:p>
        </p:txBody>
      </p:sp>
      <p:sp>
        <p:nvSpPr>
          <p:cNvPr id="3" name="Shape 1"/>
          <p:cNvSpPr/>
          <p:nvPr/>
        </p:nvSpPr>
        <p:spPr>
          <a:xfrm>
            <a:off x="812800" y="1683990"/>
            <a:ext cx="3048000" cy="3048000"/>
          </a:xfrm>
          <a:prstGeom prst="roundRect">
            <a:avLst>
              <a:gd name="adj" fmla="val 50000"/>
            </a:avLst>
          </a:prstGeom>
          <a:solidFill>
            <a:srgbClr val="4472C4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720850" y="1842740"/>
            <a:ext cx="2724150" cy="2724150"/>
          </a:xfrm>
          <a:prstGeom prst="roundRect">
            <a:avLst>
              <a:gd name="adj" fmla="val 50000"/>
            </a:avLst>
          </a:prstGeom>
          <a:solidFill>
            <a:srgbClr val="ED7D31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127250" y="3068290"/>
            <a:ext cx="1320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812800" y="4858990"/>
            <a:ext cx="11430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mask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2908300" y="4858990"/>
            <a:ext cx="114264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>
                <a:solidFill>
                  <a:srgbClr val="B451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mask</a:t>
            </a:r>
            <a:endParaRPr lang="en-US" sz="1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/>
              <p:nvPr/>
            </p:nvSpPr>
            <p:spPr>
              <a:xfrm>
                <a:off x="5541009" y="1683990"/>
                <a:ext cx="3880081" cy="9068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>
                  <a:lnSpc>
                    <a:spcPts val="2860"/>
                  </a:lnSpc>
                </a:pPr>
                <a:r>
                  <a:rPr lang="en-US" sz="2200">
                    <a:solidFill>
                      <a:srgbClr val="00000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Dice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0" dirty="0">
                            <a:solidFill>
                              <a:srgbClr val="000000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i="0" dirty="0">
                            <a:solidFill>
                              <a:srgbClr val="000000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m:t>2 x volume overlap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700" i="0" dirty="0">
                            <a:solidFill>
                              <a:srgbClr val="000000"/>
                            </a:solidFill>
                            <a:latin typeface="Arial" pitchFamily="34" charset="0"/>
                            <a:ea typeface="Arial" pitchFamily="34" charset="-122"/>
                            <a:cs typeface="Arial" pitchFamily="34" charset="-120"/>
                          </a:rPr>
                          <m:t>(your mask + true mask)</m:t>
                        </m:r>
                      </m:den>
                    </m:f>
                  </m:oMath>
                </a14:m>
                <a:endParaRPr lang="en-US" sz="2200"/>
              </a:p>
            </p:txBody>
          </p:sp>
        </mc:Choice>
        <mc:Fallback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009" y="1683990"/>
                <a:ext cx="3880081" cy="906810"/>
              </a:xfrm>
              <a:prstGeom prst="rect">
                <a:avLst/>
              </a:prstGeom>
              <a:blipFill>
                <a:blip r:embed="rId3"/>
                <a:stretch>
                  <a:fillRect l="-4575" t="-2191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7"/>
          <p:cNvSpPr/>
          <p:nvPr/>
        </p:nvSpPr>
        <p:spPr>
          <a:xfrm>
            <a:off x="5397500" y="2689770"/>
            <a:ext cx="6267450" cy="3558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7866" indent="-197866" algn="l">
              <a:lnSpc>
                <a:spcPts val="2520"/>
              </a:lnSpc>
              <a:buSzPct val="100000"/>
              <a:buChar char="•"/>
            </a:pPr>
            <a:r>
              <a:rPr lang="en-US" sz="18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you mark 100 pixels, the truth is 80, 60 overlap. Dice = 2 × 60 ÷ 180 = 0.67.</a:t>
            </a:r>
          </a:p>
          <a:p>
            <a:pPr marL="197866" indent="-197866" algn="l">
              <a:lnSpc>
                <a:spcPts val="2520"/>
              </a:lnSpc>
              <a:buSzPct val="100000"/>
              <a:buChar char="•"/>
            </a:pPr>
            <a:endParaRPr lang="en-US" sz="1800"/>
          </a:p>
          <a:p>
            <a:pPr marL="197866" indent="-197866" algn="l">
              <a:lnSpc>
                <a:spcPts val="2520"/>
              </a:lnSpc>
              <a:buSzPct val="100000"/>
              <a:buChar char="•"/>
            </a:pPr>
            <a:r>
              <a:rPr lang="en-US" sz="18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is perfect. 0 means no overlap.</a:t>
            </a:r>
          </a:p>
          <a:p>
            <a:pPr marL="197866" indent="-197866" algn="l">
              <a:lnSpc>
                <a:spcPts val="2520"/>
              </a:lnSpc>
              <a:buSzPct val="100000"/>
              <a:buChar char="•"/>
            </a:pPr>
            <a:endParaRPr lang="en-US" sz="1800"/>
          </a:p>
          <a:p>
            <a:pPr marL="197866" indent="-197866" algn="l">
              <a:lnSpc>
                <a:spcPts val="2520"/>
              </a:lnSpc>
              <a:buSzPct val="100000"/>
              <a:buChar char="•"/>
            </a:pPr>
            <a:r>
              <a:rPr lang="en-US" sz="18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score is the average Dice over the 10 test patients.</a:t>
            </a:r>
            <a:endParaRPr lang="en-US" sz="18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3816" y="6126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Lesions are small: every pixel counts</a:t>
            </a:r>
            <a:endParaRPr lang="en-US" sz="3600" b="1"/>
          </a:p>
        </p:txBody>
      </p:sp>
      <p:pic>
        <p:nvPicPr>
          <p:cNvPr id="3" name="Dice examples on a real lesion" descr="dice_small_le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371600"/>
            <a:ext cx="7406640" cy="40736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86216" y="1607127"/>
            <a:ext cx="3108960" cy="253300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r>
              <a:rPr sz="1800" b="0" i="0" dirty="0">
                <a:solidFill>
                  <a:srgbClr val="000000"/>
                </a:solidFill>
                <a:latin typeface="Arial"/>
              </a:rPr>
              <a:t>Marking the whole liver scores almost 0.</a:t>
            </a:r>
            <a:endParaRPr lang="en-GB" sz="1800" b="0" i="0" dirty="0">
              <a:solidFill>
                <a:srgbClr val="000000"/>
              </a:solidFill>
              <a:latin typeface="Arial"/>
            </a:endParaRPr>
          </a:p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endParaRPr lang="en-GB" dirty="0">
              <a:solidFill>
                <a:srgbClr val="000000"/>
              </a:solidFill>
              <a:latin typeface="Arial"/>
            </a:endParaRPr>
          </a:p>
          <a:p>
            <a:pPr marL="274320" indent="-274320" algn="l">
              <a:spcAft>
                <a:spcPts val="1400"/>
              </a:spcAft>
              <a:buFont typeface="Arial"/>
              <a:buChar char="•"/>
            </a:pPr>
            <a:endParaRPr sz="1800" b="0" i="0" dirty="0">
              <a:solidFill>
                <a:srgbClr val="000000"/>
              </a:solidFill>
              <a:latin typeface="Arial"/>
            </a:endParaRPr>
          </a:p>
          <a:p>
            <a:pPr marL="274320" indent="-274320" algn="l">
              <a:spcAft>
                <a:spcPts val="600"/>
              </a:spcAft>
              <a:buFont typeface="Arial"/>
              <a:buChar char="•"/>
            </a:pPr>
            <a:r>
              <a:rPr sz="1800" b="0" i="0" dirty="0">
                <a:solidFill>
                  <a:srgbClr val="000000"/>
                </a:solidFill>
                <a:latin typeface="Arial"/>
              </a:rPr>
              <a:t>An empty mask scores 0: always return your best guess.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EA21C-18C9-F798-5F82-E71982729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612648"/>
            <a:ext cx="10881360" cy="566928"/>
          </a:xfrm>
        </p:spPr>
        <p:txBody>
          <a:bodyPr wrap="square">
            <a:noAutofit/>
          </a:bodyPr>
          <a:lstStyle/>
          <a:p>
            <a:pPr algn="l"/>
            <a:r>
              <a:rPr lang="en-US" sz="3600" b="1" i="0">
                <a:solidFill>
                  <a:srgbClr val="000000"/>
                </a:solidFill>
                <a:latin typeface="Arial"/>
              </a:rPr>
              <a:t>Getting set up on your own laptop</a:t>
            </a:r>
          </a:p>
        </p:txBody>
      </p:sp>
      <p:sp>
        <p:nvSpPr>
          <p:cNvPr id="3" name="Step 1"/>
          <p:cNvSpPr/>
          <p:nvPr/>
        </p:nvSpPr>
        <p:spPr>
          <a:xfrm>
            <a:off x="813816" y="1344168"/>
            <a:ext cx="457200" cy="457200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325880"/>
            <a:ext cx="60350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Arial"/>
              </a:rPr>
              <a:t>Install Python and VS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73352"/>
            <a:ext cx="60350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400" b="0" i="0">
                <a:solidFill>
                  <a:srgbClr val="404040"/>
                </a:solidFill>
                <a:latin typeface="Arial"/>
              </a:rPr>
              <a:t>Python 3, plus the Python and Jupyter extensions in VS Code (or use Jupyter Notebook).</a:t>
            </a:r>
          </a:p>
        </p:txBody>
      </p:sp>
      <p:sp>
        <p:nvSpPr>
          <p:cNvPr id="6" name="Step 2"/>
          <p:cNvSpPr/>
          <p:nvPr/>
        </p:nvSpPr>
        <p:spPr>
          <a:xfrm>
            <a:off x="813816" y="2560320"/>
            <a:ext cx="457200" cy="457200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542032"/>
            <a:ext cx="60350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Arial"/>
              </a:rPr>
              <a:t>Download the code and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889504"/>
            <a:ext cx="60350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400" b="0" i="0">
                <a:solidFill>
                  <a:srgbClr val="404040"/>
                </a:solidFill>
                <a:latin typeface="Arial"/>
              </a:rPr>
              <a:t>On GitHub: Code → Download ZIP and unzip it, or git clone:</a:t>
            </a:r>
          </a:p>
        </p:txBody>
      </p:sp>
      <p:sp>
        <p:nvSpPr>
          <p:cNvPr id="9" name="Code 2"/>
          <p:cNvSpPr/>
          <p:nvPr/>
        </p:nvSpPr>
        <p:spPr>
          <a:xfrm>
            <a:off x="1463040" y="3291840"/>
            <a:ext cx="6035040" cy="3657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200" b="1" i="0" dirty="0" err="1">
                <a:solidFill>
                  <a:srgbClr val="000000"/>
                </a:solidFill>
                <a:latin typeface="Courier New"/>
              </a:rPr>
              <a:t>github.com</a:t>
            </a:r>
            <a:r>
              <a:rPr sz="1200" b="1" i="0" dirty="0">
                <a:solidFill>
                  <a:srgbClr val="000000"/>
                </a:solidFill>
                <a:latin typeface="Courier New"/>
              </a:rPr>
              <a:t>/</a:t>
            </a:r>
            <a:r>
              <a:rPr sz="1200" b="1" i="0" dirty="0" err="1">
                <a:solidFill>
                  <a:srgbClr val="000000"/>
                </a:solidFill>
                <a:latin typeface="Courier New"/>
              </a:rPr>
              <a:t>rrr</a:t>
            </a:r>
            <a:r>
              <a:rPr sz="1200" b="1" i="0" dirty="0">
                <a:solidFill>
                  <a:srgbClr val="000000"/>
                </a:solidFill>
                <a:latin typeface="Courier New"/>
              </a:rPr>
              <a:t>-</a:t>
            </a:r>
            <a:r>
              <a:rPr sz="1200" b="1" i="0" dirty="0" err="1">
                <a:solidFill>
                  <a:srgbClr val="000000"/>
                </a:solidFill>
                <a:latin typeface="Courier New"/>
              </a:rPr>
              <a:t>uom</a:t>
            </a:r>
            <a:r>
              <a:rPr sz="1200" b="1" i="0" dirty="0">
                <a:solidFill>
                  <a:srgbClr val="000000"/>
                </a:solidFill>
                <a:latin typeface="Courier New"/>
              </a:rPr>
              <a:t>-projects/</a:t>
            </a:r>
            <a:r>
              <a:rPr sz="1200" b="1" i="0" dirty="0" err="1">
                <a:solidFill>
                  <a:srgbClr val="000000"/>
                </a:solidFill>
                <a:latin typeface="Courier New"/>
              </a:rPr>
              <a:t>MPiCRT</a:t>
            </a:r>
            <a:r>
              <a:rPr sz="1200" b="1" i="0" dirty="0">
                <a:solidFill>
                  <a:srgbClr val="000000"/>
                </a:solidFill>
                <a:latin typeface="Courier New"/>
              </a:rPr>
              <a:t>-hackathon-segmentations</a:t>
            </a:r>
          </a:p>
        </p:txBody>
      </p:sp>
      <p:sp>
        <p:nvSpPr>
          <p:cNvPr id="10" name="Step 3"/>
          <p:cNvSpPr/>
          <p:nvPr/>
        </p:nvSpPr>
        <p:spPr>
          <a:xfrm>
            <a:off x="813816" y="3776472"/>
            <a:ext cx="457200" cy="457200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758184"/>
            <a:ext cx="60350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Arial"/>
              </a:rPr>
              <a:t>Install the packages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105656"/>
            <a:ext cx="60350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400" b="0" i="0">
                <a:solidFill>
                  <a:srgbClr val="404040"/>
                </a:solidFill>
                <a:latin typeface="Arial"/>
              </a:rPr>
              <a:t>In a terminal:</a:t>
            </a:r>
          </a:p>
        </p:txBody>
      </p:sp>
      <p:sp>
        <p:nvSpPr>
          <p:cNvPr id="13" name="Code 3"/>
          <p:cNvSpPr/>
          <p:nvPr/>
        </p:nvSpPr>
        <p:spPr>
          <a:xfrm>
            <a:off x="1463040" y="4507992"/>
            <a:ext cx="6035040" cy="3657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200" b="1" i="0" dirty="0">
                <a:solidFill>
                  <a:srgbClr val="000000"/>
                </a:solidFill>
                <a:latin typeface="Courier New"/>
              </a:rPr>
              <a:t>pip install </a:t>
            </a:r>
            <a:r>
              <a:rPr sz="1200" b="1" i="0" dirty="0" err="1">
                <a:solidFill>
                  <a:srgbClr val="000000"/>
                </a:solidFill>
                <a:latin typeface="Courier New"/>
              </a:rPr>
              <a:t>numpy</a:t>
            </a:r>
            <a:r>
              <a:rPr sz="1200" b="1" i="0" dirty="0">
                <a:solidFill>
                  <a:srgbClr val="000000"/>
                </a:solidFill>
                <a:latin typeface="Courier New"/>
              </a:rPr>
              <a:t> pandas matplotlib </a:t>
            </a:r>
            <a:r>
              <a:rPr sz="1200" b="1" i="0" dirty="0" err="1">
                <a:solidFill>
                  <a:srgbClr val="000000"/>
                </a:solidFill>
                <a:latin typeface="Courier New"/>
              </a:rPr>
              <a:t>scipy</a:t>
            </a:r>
            <a:r>
              <a:rPr sz="1200" b="1" i="0" dirty="0">
                <a:solidFill>
                  <a:srgbClr val="000000"/>
                </a:solidFill>
                <a:latin typeface="Courier New"/>
              </a:rPr>
              <a:t> </a:t>
            </a:r>
            <a:r>
              <a:rPr sz="1200" b="1" i="0" dirty="0" err="1">
                <a:solidFill>
                  <a:srgbClr val="000000"/>
                </a:solidFill>
                <a:latin typeface="Courier New"/>
              </a:rPr>
              <a:t>ipykernel</a:t>
            </a:r>
            <a:endParaRPr sz="1200" b="1" i="0" dirty="0">
              <a:solidFill>
                <a:srgbClr val="000000"/>
              </a:solidFill>
              <a:latin typeface="Courier New"/>
            </a:endParaRPr>
          </a:p>
        </p:txBody>
      </p:sp>
      <p:sp>
        <p:nvSpPr>
          <p:cNvPr id="14" name="Step 4"/>
          <p:cNvSpPr/>
          <p:nvPr/>
        </p:nvSpPr>
        <p:spPr>
          <a:xfrm>
            <a:off x="813816" y="4992624"/>
            <a:ext cx="457200" cy="457200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974336"/>
            <a:ext cx="60350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1" i="0">
                <a:solidFill>
                  <a:srgbClr val="000000"/>
                </a:solidFill>
                <a:latin typeface="Arial"/>
              </a:rPr>
              <a:t>Open and run the notebook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21808"/>
            <a:ext cx="60350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400" b="0" i="0">
                <a:solidFill>
                  <a:srgbClr val="404040"/>
                </a:solidFill>
                <a:latin typeface="Arial"/>
              </a:rPr>
              <a:t>Open the folder in VS Code, open starter.ipynb, choose your Python environment, then Run All. You should see:</a:t>
            </a:r>
          </a:p>
        </p:txBody>
      </p:sp>
      <p:sp>
        <p:nvSpPr>
          <p:cNvPr id="17" name="Code 4"/>
          <p:cNvSpPr/>
          <p:nvPr/>
        </p:nvSpPr>
        <p:spPr>
          <a:xfrm>
            <a:off x="1463040" y="5843016"/>
            <a:ext cx="6035040" cy="3657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200" b="0" i="0">
                <a:solidFill>
                  <a:srgbClr val="000000"/>
                </a:solidFill>
                <a:latin typeface="Courier New"/>
              </a:rPr>
              <a:t>84 development images, 10 test images</a:t>
            </a:r>
          </a:p>
        </p:txBody>
      </p:sp>
      <p:sp>
        <p:nvSpPr>
          <p:cNvPr id="18" name="Plan B card"/>
          <p:cNvSpPr/>
          <p:nvPr/>
        </p:nvSpPr>
        <p:spPr>
          <a:xfrm>
            <a:off x="8001000" y="1325880"/>
            <a:ext cx="3337560" cy="3611880"/>
          </a:xfrm>
          <a:prstGeom prst="roundRect">
            <a:avLst>
              <a:gd name="adj" fmla="val 6000"/>
            </a:avLst>
          </a:prstGeom>
          <a:solidFill>
            <a:srgbClr val="FB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463040"/>
            <a:ext cx="29260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000" b="1" i="0">
                <a:solidFill>
                  <a:srgbClr val="B4510D"/>
                </a:solidFill>
                <a:latin typeface="Arial"/>
              </a:rPr>
              <a:t>Plan B: Google Colab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920240"/>
            <a:ext cx="29260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400" b="0" i="0">
                <a:solidFill>
                  <a:srgbClr val="404040"/>
                </a:solidFill>
                <a:latin typeface="Arial"/>
              </a:rPr>
              <a:t>Only if your laptop setup doesn't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514600"/>
            <a:ext cx="2926080" cy="3200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74320" indent="-274320" algn="l">
              <a:spcAft>
                <a:spcPts val="1000"/>
              </a:spcAft>
              <a:buFont typeface="Arial"/>
              <a:buChar char="•"/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On the GitHub page, click Open in </a:t>
            </a:r>
            <a:r>
              <a:rPr sz="1400" b="0" i="0" dirty="0" err="1">
                <a:solidFill>
                  <a:srgbClr val="000000"/>
                </a:solidFill>
                <a:latin typeface="Arial"/>
              </a:rPr>
              <a:t>Colab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274320" indent="-274320" algn="l">
              <a:spcAft>
                <a:spcPts val="1000"/>
              </a:spcAft>
              <a:buFont typeface="Arial"/>
              <a:buChar char="•"/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File → Save a copy in Drive.</a:t>
            </a:r>
          </a:p>
          <a:p>
            <a:pPr marL="274320" indent="-274320" algn="l">
              <a:spcAft>
                <a:spcPts val="1000"/>
              </a:spcAft>
              <a:buFont typeface="Arial"/>
              <a:buChar char="•"/>
            </a:pPr>
            <a:r>
              <a:rPr sz="1400" b="0" i="0" dirty="0">
                <a:solidFill>
                  <a:srgbClr val="000000"/>
                </a:solidFill>
                <a:latin typeface="Arial"/>
              </a:rPr>
              <a:t>Run the first cell: it downloads the data for you.</a:t>
            </a:r>
          </a:p>
          <a:p>
            <a:pPr marL="274320" indent="-274320" algn="l">
              <a:spcAft>
                <a:spcPts val="600"/>
              </a:spcAft>
              <a:buFont typeface="Arial"/>
              <a:buChar char="•"/>
            </a:pPr>
            <a:r>
              <a:rPr sz="1400" b="0" i="0" dirty="0" err="1">
                <a:solidFill>
                  <a:srgbClr val="000000"/>
                </a:solidFill>
                <a:latin typeface="Arial"/>
              </a:rPr>
              <a:t>Colab</a:t>
            </a:r>
            <a:r>
              <a:rPr sz="1400" b="0" i="0" dirty="0">
                <a:solidFill>
                  <a:srgbClr val="000000"/>
                </a:solidFill>
                <a:latin typeface="Arial"/>
              </a:rPr>
              <a:t> deletes files when it disconnects, so download your CSV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4071751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3816" y="6126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Submitting and scoring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813816" y="1325880"/>
            <a:ext cx="6583680" cy="3108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1800" b="1" i="0" dirty="0">
                <a:solidFill>
                  <a:srgbClr val="000000"/>
                </a:solidFill>
                <a:latin typeface="Arial"/>
              </a:rPr>
              <a:t>When you're happy with your method: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sz="1800" b="1" i="0" dirty="0">
                <a:solidFill>
                  <a:srgbClr val="2F5597"/>
                </a:solidFill>
                <a:latin typeface="Arial"/>
              </a:rPr>
              <a:t>1  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Put your team name in the last cell of the notebook.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sz="1800" b="1" i="0" dirty="0">
                <a:solidFill>
                  <a:srgbClr val="2F5597"/>
                </a:solidFill>
                <a:latin typeface="Arial"/>
              </a:rPr>
              <a:t>2  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Run the cell. It runs segment() on the 10 test images, saves </a:t>
            </a:r>
            <a:r>
              <a:rPr sz="1800" b="0" i="0" dirty="0" err="1">
                <a:solidFill>
                  <a:srgbClr val="000000"/>
                </a:solidFill>
                <a:latin typeface="Arial"/>
              </a:rPr>
              <a:t>your_team.csv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 and checks it.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sz="1800" b="1" i="0" dirty="0">
                <a:solidFill>
                  <a:srgbClr val="2F5597"/>
                </a:solidFill>
                <a:latin typeface="Arial"/>
              </a:rPr>
              <a:t>3  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Wait for </a:t>
            </a:r>
            <a:r>
              <a:rPr sz="1800" b="1" i="0" dirty="0">
                <a:solidFill>
                  <a:srgbClr val="000000"/>
                </a:solidFill>
                <a:latin typeface="Arial"/>
              </a:rPr>
              <a:t>OK — ready to submit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. If you see FAIL, read the message and fix it.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sz="1800" b="1" i="0" dirty="0">
                <a:solidFill>
                  <a:srgbClr val="2F5597"/>
                </a:solidFill>
                <a:latin typeface="Arial"/>
              </a:rPr>
              <a:t>4  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Send us your CSV and your notebook.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5" y="4206240"/>
            <a:ext cx="10366803" cy="96334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1" i="0" dirty="0">
                <a:solidFill>
                  <a:srgbClr val="000000"/>
                </a:solidFill>
                <a:latin typeface="Arial"/>
              </a:rPr>
              <a:t>Scoring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sz="1800" b="1" i="0" dirty="0">
                <a:solidFill>
                  <a:srgbClr val="000000"/>
                </a:solidFill>
                <a:latin typeface="Arial"/>
              </a:rPr>
              <a:t>Up to 3 submissions per team</a:t>
            </a:r>
            <a:r>
              <a:rPr lang="en-GB" sz="1800" b="1" i="0" dirty="0">
                <a:solidFill>
                  <a:srgbClr val="000000"/>
                </a:solidFill>
                <a:latin typeface="Arial"/>
              </a:rPr>
              <a:t> via email to </a:t>
            </a:r>
            <a:r>
              <a:rPr lang="en-GB" sz="1800" b="1" i="0" dirty="0" err="1">
                <a:solidFill>
                  <a:srgbClr val="000000"/>
                </a:solidFill>
                <a:latin typeface="Arial"/>
              </a:rPr>
              <a:t>artemis.bouzaki@postgrad.manchester.ac.uk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. We reply with your mean Dice </a:t>
            </a:r>
            <a:r>
              <a:rPr lang="en-GB" sz="1800" b="0" i="0" dirty="0">
                <a:solidFill>
                  <a:srgbClr val="000000"/>
                </a:solidFill>
                <a:latin typeface="Arial"/>
              </a:rPr>
              <a:t>score </a:t>
            </a:r>
            <a:r>
              <a:rPr sz="1800" b="0" i="0" dirty="0">
                <a:solidFill>
                  <a:srgbClr val="000000"/>
                </a:solidFill>
                <a:latin typeface="Arial"/>
              </a:rPr>
              <a:t>over the 10 test images. </a:t>
            </a:r>
            <a:r>
              <a:rPr sz="1800" b="1" i="0" dirty="0">
                <a:solidFill>
                  <a:srgbClr val="000000"/>
                </a:solidFill>
                <a:latin typeface="Arial"/>
              </a:rPr>
              <a:t>Your best submission counts.</a:t>
            </a:r>
          </a:p>
        </p:txBody>
      </p:sp>
      <p:sp>
        <p:nvSpPr>
          <p:cNvPr id="5" name="Check output"/>
          <p:cNvSpPr/>
          <p:nvPr/>
        </p:nvSpPr>
        <p:spPr>
          <a:xfrm>
            <a:off x="7772400" y="1371600"/>
            <a:ext cx="3566160" cy="25146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960120"/>
            <a:ext cx="35661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300" b="0" i="0">
                <a:solidFill>
                  <a:srgbClr val="404040"/>
                </a:solidFill>
                <a:latin typeface="Arial"/>
              </a:rPr>
              <a:t>What a good check looks like: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1481328"/>
            <a:ext cx="3383280" cy="23774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200" b="0" i="0">
                <a:solidFill>
                  <a:srgbClr val="E6E6E6"/>
                </a:solidFill>
                <a:latin typeface="Courier New"/>
              </a:rPr>
              <a:t>  test_01:     68 lesion pixels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200" b="0" i="0">
                <a:solidFill>
                  <a:srgbClr val="E6E6E6"/>
                </a:solidFill>
                <a:latin typeface="Courier New"/>
              </a:rPr>
              <a:t>  test_02:     37 lesion pixels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200" b="0" i="0">
                <a:solidFill>
                  <a:srgbClr val="E6E6E6"/>
                </a:solidFill>
                <a:latin typeface="Courier New"/>
              </a:rPr>
              <a:t>  test_03:    191 lesion pixels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200" b="0" i="0">
                <a:solidFill>
                  <a:srgbClr val="E6E6E6"/>
                </a:solidFill>
                <a:latin typeface="Courier New"/>
              </a:rPr>
              <a:t>  test_04:    132 lesion pixels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200" b="0" i="0">
                <a:solidFill>
                  <a:srgbClr val="E6E6E6"/>
                </a:solidFill>
                <a:latin typeface="Courier New"/>
              </a:rPr>
              <a:t>  test_05:     47 lesion pixels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200" b="0" i="0">
                <a:solidFill>
                  <a:srgbClr val="E6E6E6"/>
                </a:solidFill>
                <a:latin typeface="Courier New"/>
              </a:rPr>
              <a:t>  test_06:     99 lesion pixels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200" b="0" i="0">
                <a:solidFill>
                  <a:srgbClr val="E6E6E6"/>
                </a:solidFill>
                <a:latin typeface="Courier New"/>
              </a:rPr>
              <a:t>  test_07:     44 lesion pixels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200" b="0" i="0">
                <a:solidFill>
                  <a:srgbClr val="E6E6E6"/>
                </a:solidFill>
                <a:latin typeface="Courier New"/>
              </a:rPr>
              <a:t>  test_08:     38 lesion pixels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200" b="0" i="0">
                <a:solidFill>
                  <a:srgbClr val="E6E6E6"/>
                </a:solidFill>
                <a:latin typeface="Courier New"/>
              </a:rPr>
              <a:t>  test_09:    245 lesion pixels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200" b="0" i="0">
                <a:solidFill>
                  <a:srgbClr val="E6E6E6"/>
                </a:solidFill>
                <a:latin typeface="Courier New"/>
              </a:rPr>
              <a:t>  test_10:     47 lesion pixels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200" b="1" i="0">
                <a:solidFill>
                  <a:srgbClr val="7CFC9A"/>
                </a:solidFill>
                <a:latin typeface="Courier New"/>
              </a:rPr>
              <a:t>OK — ready to submit</a:t>
            </a:r>
          </a:p>
        </p:txBody>
      </p:sp>
      <p:sp>
        <p:nvSpPr>
          <p:cNvPr id="8" name="Main rule"/>
          <p:cNvSpPr/>
          <p:nvPr/>
        </p:nvSpPr>
        <p:spPr>
          <a:xfrm>
            <a:off x="813816" y="5486400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FB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600" b="1" i="0" dirty="0">
                <a:solidFill>
                  <a:srgbClr val="B4510D"/>
                </a:solidFill>
                <a:latin typeface="Arial"/>
              </a:rPr>
              <a:t>Main rule: fully automatic. </a:t>
            </a:r>
            <a:r>
              <a:rPr sz="1600" b="0" i="0" dirty="0">
                <a:solidFill>
                  <a:srgbClr val="000000"/>
                </a:solidFill>
                <a:latin typeface="Arial"/>
              </a:rPr>
              <a:t>The same code makes every mask: no hand-drawn masks, no settings chosen for particular images or file names.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FC65E-DABC-3967-571C-EB427199F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Ideas for getting started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66062-71ED-102C-463F-44DB246E0099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/>
              <a:t>Load one image. Print its shape and its smallest and largest values.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/>
              <a:t>Look at all images: are they equally bright? Is the lesion brighter or darker than the tissue around it?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/>
              <a:t>Try to load liver segmentation to guide your solution.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/>
              <a:t>Find an image where your segmentation goes wrong. What is different about that scan?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067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926</Words>
  <Application>Microsoft Macintosh PowerPoint</Application>
  <PresentationFormat>Widescreen</PresentationFormat>
  <Paragraphs>121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Office Theme</vt:lpstr>
      <vt:lpstr>Liver Lesion Segmentation Challenge</vt:lpstr>
      <vt:lpstr>What is segmentation?</vt:lpstr>
      <vt:lpstr>Our images: coronal CT slices of the abdomen</vt:lpstr>
      <vt:lpstr>No two images look the same</vt:lpstr>
      <vt:lpstr>Your task: automatically segment the lesion!</vt:lpstr>
      <vt:lpstr>Two datasets: practise, then get scored</vt:lpstr>
      <vt:lpstr>How you are scored: Dice score</vt:lpstr>
      <vt:lpstr>Lesions are small: every pixel counts</vt:lpstr>
      <vt:lpstr>Getting set up on your own laptop</vt:lpstr>
      <vt:lpstr>Submitting and scoring</vt:lpstr>
      <vt:lpstr>Ideas for getting started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 Mcwilliam</dc:creator>
  <cp:lastModifiedBy>Artemis Bouzaki</cp:lastModifiedBy>
  <cp:revision>1</cp:revision>
  <dcterms:created xsi:type="dcterms:W3CDTF">2026-09-11T11:48:27Z</dcterms:created>
  <dcterms:modified xsi:type="dcterms:W3CDTF">2026-10-14T14:03:07Z</dcterms:modified>
</cp:coreProperties>
</file>